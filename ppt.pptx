
<file path=[Content_Types].xml><?xml version="1.0" encoding="utf-8"?>
<Types xmlns="http://schemas.openxmlformats.org/package/2006/content-types">
  <Default Extension="wmf" ContentType="image/x-wmf"/>
  <Default Extension="png" ContentType="image/png"/>
  <Default Extension="jpg" ContentType="image/jpe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slides/slide13.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Layouts/slideLayout9.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1.xml" ContentType="application/vnd.openxmlformats-officedocument.presentationml.slide+xml"/>
  <Override PartName="/ppt/slideLayouts/slideLayout8.xml" ContentType="application/vnd.openxmlformats-officedocument.presentationml.slideLayout+xml"/>
  <Override PartName="/ppt/slides/slide9.xml" ContentType="application/vnd.openxmlformats-officedocument.presentationml.slide+xml"/>
  <Override PartName="/ppt/slideLayouts/slideLayout2.xml" ContentType="application/vnd.openxmlformats-officedocument.presentationml.slideLayout+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s/slide16.xml" ContentType="application/vnd.openxmlformats-officedocument.presentationml.slid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slideLayouts/slideLayout6.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12192000" cy="6858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247"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3"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 name="Date Placeholder 6"/>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Date Placeholder 2"/>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picTx"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x"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itleAndTx"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
            </a:fld>
            <a:endParaRPr lang="en-US"/>
          </a:p>
        </p:txBody>
      </p:sp>
      <p:sp>
        <p:nvSpPr>
          <p:cNvPr id="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p:txBody>
          <a:bodyPr vertOverflow="overflow" horzOverflow="overflow" vert="horz" wrap="square" lIns="91440" tIns="45720" rIns="91440" bIns="45720" numCol="1" spcCol="0" rtlCol="0" fromWordArt="0" anchor="b" anchorCtr="0" forceAA="0" upright="0" compatLnSpc="0">
            <a:normAutofit/>
          </a:bodyPr>
          <a:lstStyle/>
          <a:p>
            <a:pPr>
              <a:defRPr/>
            </a:pPr>
            <a:r>
              <a:rPr lang="en-US" sz="2800" b="1" i="0" u="none" strike="noStrike" cap="none" spc="0">
                <a:solidFill>
                  <a:schemeClr val="tx1"/>
                </a:solidFill>
                <a:latin typeface="Arial"/>
                <a:cs typeface="Arial"/>
              </a:rPr>
              <a:t>IBM University Engagement</a:t>
            </a:r>
            <a:endParaRPr sz="2800" b="1" i="0" u="none" strike="noStrike" cap="none" spc="0">
              <a:solidFill>
                <a:schemeClr val="tx1"/>
              </a:solidFill>
              <a:latin typeface="Arial"/>
              <a:cs typeface="Arial"/>
            </a:endParaRPr>
          </a:p>
          <a:p>
            <a:pPr>
              <a:defRPr/>
            </a:pPr>
            <a:r>
              <a:rPr lang="en-US" sz="2800" b="1" i="0" u="none" strike="noStrike" cap="none" spc="0">
                <a:solidFill>
                  <a:schemeClr val="tx1"/>
                </a:solidFill>
                <a:latin typeface="Arial"/>
                <a:cs typeface="Arial"/>
              </a:rPr>
              <a:t>Project Submission</a:t>
            </a:r>
            <a:endParaRPr sz="2800" b="1" i="0" u="none" strike="noStrike" cap="none" spc="0">
              <a:solidFill>
                <a:schemeClr val="tx1"/>
              </a:solidFill>
              <a:latin typeface="Arial"/>
              <a:cs typeface="Arial"/>
            </a:endParaRPr>
          </a:p>
          <a:p>
            <a:pPr>
              <a:defRPr/>
            </a:pPr>
            <a:endParaRPr sz="2800" b="1" i="0" u="none" strike="noStrike" cap="none" spc="0">
              <a:solidFill>
                <a:schemeClr val="tx1"/>
              </a:solidFill>
              <a:latin typeface="Arial"/>
              <a:cs typeface="Arial"/>
            </a:endParaRPr>
          </a:p>
          <a:p>
            <a:pPr>
              <a:defRPr/>
            </a:pPr>
            <a:endParaRPr lang="en-US"/>
          </a:p>
        </p:txBody>
      </p:sp>
      <p:sp>
        <p:nvSpPr>
          <p:cNvPr id="3" name="Subtitle 2"/>
          <p:cNvSpPr>
            <a:spLocks noGrp="1"/>
          </p:cNvSpPr>
          <p:nvPr>
            <p:ph type="subTitle" idx="1"/>
          </p:nvPr>
        </p:nvSpPr>
        <p:spPr bwMode="auto"/>
        <p:txBody>
          <a:bodyPr/>
          <a:lstStyle/>
          <a:p>
            <a:pPr>
              <a:defRPr/>
            </a:pPr>
            <a:r>
              <a:rPr lang="en-US" sz="2000" b="0" i="0" u="none" strike="noStrike" cap="none" spc="0">
                <a:solidFill>
                  <a:schemeClr val="tx1"/>
                </a:solidFill>
                <a:latin typeface="Arial"/>
                <a:ea typeface="Arial"/>
                <a:cs typeface="Arial"/>
              </a:rPr>
              <a:t>“Exploring the Power of Agentic AI with IBM Granite and LangFlow”</a:t>
            </a:r>
            <a:endParaRPr sz="2000"/>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553052257" name="Title 1"/>
          <p:cNvSpPr>
            <a:spLocks noGrp="1"/>
          </p:cNvSpPr>
          <p:nvPr>
            <p:ph type="title"/>
          </p:nvPr>
        </p:nvSpPr>
        <p:spPr bwMode="auto">
          <a:xfrm flipH="0" flipV="0">
            <a:off x="838200" y="506648"/>
            <a:ext cx="10515600" cy="1509813"/>
          </a:xfrm>
        </p:spPr>
        <p:txBody>
          <a:bodyPr vertOverflow="overflow" horzOverflow="overflow" vert="horz" wrap="square" lIns="91440" tIns="45720" rIns="91440" bIns="45720" numCol="1" spcCol="0" rtlCol="0" fromWordArt="0" anchor="ctr" anchorCtr="0" forceAA="0" upright="0" compatLnSpc="0">
            <a:normAutofit/>
          </a:bodyPr>
          <a:lstStyle/>
          <a:p>
            <a:pPr>
              <a:defRPr/>
            </a:pPr>
            <a:r>
              <a:rPr lang="en-US" sz="2800" b="1" i="0" u="none" strike="noStrike" cap="none" spc="0">
                <a:solidFill>
                  <a:schemeClr val="tx1"/>
                </a:solidFill>
                <a:latin typeface="ARial"/>
                <a:cs typeface="ARial"/>
              </a:rPr>
              <a:t>Project Tile – </a:t>
            </a:r>
            <a:r>
              <a:rPr lang="en-US" sz="2800" b="1" i="0" u="none" strike="noStrike" cap="none" spc="0">
                <a:solidFill>
                  <a:srgbClr val="000000"/>
                </a:solidFill>
                <a:latin typeface="ARial"/>
                <a:ea typeface="Times New Roman"/>
                <a:cs typeface="ARial"/>
              </a:rPr>
              <a:t>Managing Content Overload for Blog Writers</a:t>
            </a:r>
            <a:endParaRPr sz="2800" b="1">
              <a:latin typeface="ARial"/>
              <a:cs typeface="ARial"/>
            </a:endParaRPr>
          </a:p>
          <a:p>
            <a:pPr>
              <a:defRPr/>
            </a:pPr>
            <a:r>
              <a:rPr lang="en-US" sz="2800" b="1" i="0" u="none" strike="noStrike" cap="none" spc="0">
                <a:solidFill>
                  <a:schemeClr val="tx1"/>
                </a:solidFill>
                <a:latin typeface="ARial"/>
                <a:cs typeface="ARial"/>
              </a:rPr>
              <a:t> </a:t>
            </a:r>
            <a:endParaRPr sz="2800" b="1">
              <a:latin typeface="ARial"/>
              <a:cs typeface="ARial"/>
            </a:endParaRPr>
          </a:p>
        </p:txBody>
      </p:sp>
      <p:sp>
        <p:nvSpPr>
          <p:cNvPr id="852098846"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lang="en-US" sz="2000" b="0" i="0" u="none" strike="noStrike" cap="none" spc="0">
                <a:solidFill>
                  <a:schemeClr val="tx1"/>
                </a:solidFill>
                <a:latin typeface="Arial"/>
                <a:cs typeface="Arial"/>
              </a:rPr>
              <a:t>Domain of Project –  Education </a:t>
            </a:r>
            <a:endParaRPr sz="2000" b="0" i="0" u="none" strike="noStrike" cap="none" spc="0">
              <a:solidFill>
                <a:schemeClr val="tx1"/>
              </a:solidFill>
              <a:latin typeface="Arial"/>
              <a:cs typeface="Arial"/>
            </a:endParaRPr>
          </a:p>
          <a:p>
            <a:pPr marL="0" indent="0">
              <a:buFont typeface="Arial"/>
              <a:buNone/>
              <a:defRPr/>
            </a:pPr>
            <a:endParaRPr sz="2000" b="0" i="0" u="none" strike="noStrike" cap="none" spc="0">
              <a:solidFill>
                <a:schemeClr val="tx1"/>
              </a:solidFill>
              <a:latin typeface="Arial"/>
              <a:cs typeface="Arial"/>
            </a:endParaRPr>
          </a:p>
          <a:p>
            <a:pPr>
              <a:defRPr/>
            </a:pPr>
            <a:endParaRPr lang="en-US" sz="2800" b="0" i="0" u="none" strike="noStrike" cap="none" spc="0">
              <a:solidFill>
                <a:schemeClr val="tx1"/>
              </a:solidFill>
              <a:latin typeface="Arial"/>
              <a:cs typeface="Arial"/>
            </a:endParaRPr>
          </a:p>
        </p:txBody>
      </p:sp>
      <p:graphicFrame>
        <p:nvGraphicFramePr>
          <p:cNvPr id="2117418727" name=""/>
          <p:cNvGraphicFramePr>
            <a:graphicFrameLocks xmlns:a="http://schemas.openxmlformats.org/drawingml/2006/main"/>
          </p:cNvGraphicFramePr>
          <p:nvPr/>
        </p:nvGraphicFramePr>
        <p:xfrm>
          <a:off x="1099765" y="2820615"/>
          <a:ext cx="8140700" cy="744219"/>
        </p:xfrm>
        <a:graphic>
          <a:graphicData uri="http://schemas.openxmlformats.org/drawingml/2006/table">
            <a:tbl>
              <a:tblPr firstRow="1" firstCol="0" lastRow="0" lastCol="0" bandRow="1" bandCol="0">
                <a:tableStyleId>{5C22544A-7EE6-4342-B048-85BDC9FD1C3A}</a:tableStyleId>
              </a:tblPr>
              <a:tblGrid>
                <a:gridCol w="1845131"/>
                <a:gridCol w="2918967"/>
                <a:gridCol w="3077710"/>
                <a:gridCol w="1686389"/>
              </a:tblGrid>
              <a:tr h="1007647">
                <a:tc>
                  <a:txBody>
                    <a:bodyPr/>
                    <a:p>
                      <a:pPr>
                        <a:defRPr/>
                      </a:pPr>
                      <a:r>
                        <a:rPr/>
                        <a:t>Student Name</a:t>
                      </a:r>
                      <a:endParaRPr/>
                    </a:p>
                  </a:txBody>
                  <a:tcPr/>
                </a:tc>
                <a:tc>
                  <a:txBody>
                    <a:bodyPr/>
                    <a:p>
                      <a:pPr>
                        <a:defRPr/>
                      </a:pPr>
                      <a:r>
                        <a:rPr/>
                        <a:t>Recent Passport Photo</a:t>
                      </a:r>
                      <a:endParaRPr/>
                    </a:p>
                  </a:txBody>
                  <a:tcPr/>
                </a:tc>
                <a:tc>
                  <a:txBody>
                    <a:bodyPr/>
                    <a:p>
                      <a:pPr>
                        <a:defRPr/>
                      </a:pPr>
                      <a:r>
                        <a:rPr/>
                        <a:t>Email ID</a:t>
                      </a:r>
                      <a:endParaRPr/>
                    </a:p>
                  </a:txBody>
                  <a:tcPr/>
                </a:tc>
                <a:tc>
                  <a:txBody>
                    <a:bodyPr/>
                    <a:p>
                      <a:pPr>
                        <a:defRPr/>
                      </a:pPr>
                      <a:r>
                        <a:rPr/>
                        <a:t>Mobile Number</a:t>
                      </a:r>
                      <a:endParaRPr/>
                    </a:p>
                    <a:p>
                      <a:pPr>
                        <a:defRPr/>
                      </a:pPr>
                      <a:r>
                        <a:rPr/>
                        <a:t>[Whatsapp]</a:t>
                      </a:r>
                      <a:endParaRPr/>
                    </a:p>
                  </a:txBody>
                  <a:tcPr/>
                </a:tc>
              </a:tr>
              <a:tr h="1653678">
                <a:tc>
                  <a:txBody>
                    <a:bodyPr/>
                    <a:p>
                      <a:pPr>
                        <a:defRPr/>
                      </a:pPr>
                      <a:r>
                        <a:rPr/>
                        <a:t>Dakshayini G.R</a:t>
                      </a:r>
                      <a:endParaRPr/>
                    </a:p>
                  </a:txBody>
                  <a:tcPr/>
                </a:tc>
                <a:tc>
                  <a:txBody>
                    <a:bodyPr/>
                    <a:p>
                      <a:pPr algn="ctr">
                        <a:defRPr/>
                      </a:pPr>
                      <a:endParaRPr/>
                    </a:p>
                  </a:txBody>
                  <a:tcPr/>
                </a:tc>
                <a:tc>
                  <a:txBody>
                    <a:bodyPr/>
                    <a:p>
                      <a:pPr>
                        <a:defRPr/>
                      </a:pPr>
                      <a:r>
                        <a:rPr/>
                        <a:t>dakshayini@kssem.edu.in</a:t>
                      </a:r>
                      <a:endParaRPr/>
                    </a:p>
                  </a:txBody>
                  <a:tcPr/>
                </a:tc>
                <a:tc>
                  <a:txBody>
                    <a:bodyPr/>
                    <a:p>
                      <a:pPr>
                        <a:defRPr/>
                      </a:pPr>
                      <a:r>
                        <a:rPr/>
                        <a:t>7989137176</a:t>
                      </a:r>
                      <a:endParaRPr/>
                    </a:p>
                  </a:txBody>
                  <a:tcPr/>
                </a:tc>
              </a:tr>
            </a:tbl>
          </a:graphicData>
        </a:graphic>
      </p:graphicFrame>
      <p:pic>
        <p:nvPicPr>
          <p:cNvPr id="1786112436" name=""/>
          <p:cNvPicPr>
            <a:picLocks noChangeAspect="1"/>
          </p:cNvPicPr>
          <p:nvPr/>
        </p:nvPicPr>
        <p:blipFill>
          <a:blip r:embed="rId2"/>
          <a:stretch/>
        </p:blipFill>
        <p:spPr bwMode="auto">
          <a:xfrm flipH="0" flipV="0">
            <a:off x="3567845" y="3880930"/>
            <a:ext cx="1236223" cy="13479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036283498" name=""/>
          <p:cNvSpPr txBox="1"/>
          <p:nvPr/>
        </p:nvSpPr>
        <p:spPr bwMode="auto">
          <a:xfrm flipH="0" flipV="0">
            <a:off x="487420" y="61259"/>
            <a:ext cx="11380775" cy="6462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a:p>
            <a:pPr>
              <a:defRPr/>
            </a:pPr>
            <a:r>
              <a:rPr sz="2000" b="1" i="0" u="none">
                <a:solidFill>
                  <a:srgbClr val="000000"/>
                </a:solidFill>
                <a:latin typeface="ARial"/>
                <a:ea typeface="Times New Roman"/>
                <a:cs typeface="ARial"/>
              </a:rPr>
              <a:t>Problem Statement : </a:t>
            </a:r>
            <a:r>
              <a:rPr sz="2000" b="0" i="0" u="none">
                <a:solidFill>
                  <a:srgbClr val="000000"/>
                </a:solidFill>
                <a:latin typeface="ARial"/>
                <a:ea typeface="Times New Roman"/>
                <a:cs typeface="ARial"/>
              </a:rPr>
              <a:t>Managing Content Overload for Blog Writers</a:t>
            </a:r>
            <a:endParaRPr sz="2000" b="1" i="0" u="none">
              <a:solidFill>
                <a:srgbClr val="000000"/>
              </a:solidFill>
              <a:latin typeface="ARial"/>
              <a:cs typeface="ARial"/>
            </a:endParaRPr>
          </a:p>
          <a:p>
            <a:pPr algn="just">
              <a:defRPr/>
            </a:pPr>
            <a:endParaRPr sz="2000">
              <a:latin typeface="ARial"/>
              <a:cs typeface="ARial"/>
            </a:endParaRPr>
          </a:p>
          <a:p>
            <a:pPr algn="just">
              <a:defRPr/>
            </a:pPr>
            <a:r>
              <a:rPr sz="2000" b="1" i="0" u="none">
                <a:solidFill>
                  <a:srgbClr val="000000"/>
                </a:solidFill>
                <a:latin typeface="ARial"/>
                <a:ea typeface="Times New Roman"/>
                <a:cs typeface="ARial"/>
              </a:rPr>
              <a:t>The Challenge:</a:t>
            </a:r>
            <a:endParaRPr sz="2000" b="1" i="0" u="none">
              <a:solidFill>
                <a:srgbClr val="000000"/>
              </a:solidFill>
              <a:latin typeface="ARial"/>
              <a:cs typeface="ARial"/>
            </a:endParaRPr>
          </a:p>
          <a:p>
            <a:pPr algn="just">
              <a:defRPr/>
            </a:pPr>
            <a:r>
              <a:rPr sz="2000" b="0" i="0" u="none">
                <a:solidFill>
                  <a:srgbClr val="000000"/>
                </a:solidFill>
                <a:latin typeface="ARial"/>
                <a:ea typeface="Times New Roman"/>
                <a:cs typeface="ARial"/>
              </a:rPr>
              <a:t>Bloggers today face an overwhelming flood of scattered information—news updates, research articles, social media trends, and audience feedback. This content is fragmented, quickly outdated, and difficult to organize, making it hard for writers to focus on creating impactful blogs. The challenge is not just to collect ideas but to </a:t>
            </a:r>
            <a:r>
              <a:rPr sz="2000" b="1" i="0" u="none">
                <a:solidFill>
                  <a:srgbClr val="000000"/>
                </a:solidFill>
                <a:latin typeface="ARial"/>
                <a:ea typeface="Times New Roman"/>
                <a:cs typeface="ARial"/>
              </a:rPr>
              <a:t>synthesize, prioritize, and guide writers</a:t>
            </a:r>
            <a:r>
              <a:rPr sz="2000" b="0" i="0" u="none">
                <a:solidFill>
                  <a:srgbClr val="000000"/>
                </a:solidFill>
                <a:latin typeface="ARial"/>
                <a:ea typeface="Times New Roman"/>
                <a:cs typeface="ARial"/>
              </a:rPr>
              <a:t> toward high-quality content creation.</a:t>
            </a:r>
            <a:endParaRPr sz="2000" b="0">
              <a:latin typeface="ARial"/>
              <a:cs typeface="ARial"/>
            </a:endParaRPr>
          </a:p>
          <a:p>
            <a:pPr algn="just">
              <a:defRPr/>
            </a:pPr>
            <a:endParaRPr sz="2000" b="0" i="0" u="none">
              <a:solidFill>
                <a:srgbClr val="000000"/>
              </a:solidFill>
              <a:latin typeface="ARial"/>
              <a:cs typeface="ARial"/>
            </a:endParaRPr>
          </a:p>
          <a:p>
            <a:pPr>
              <a:defRPr/>
            </a:pPr>
            <a:r>
              <a:rPr sz="2000" b="1" i="0" u="none">
                <a:solidFill>
                  <a:srgbClr val="000000"/>
                </a:solidFill>
                <a:latin typeface="ARial"/>
                <a:ea typeface="Times New Roman"/>
                <a:cs typeface="ARial"/>
              </a:rPr>
              <a:t>The Objective:</a:t>
            </a:r>
            <a:endParaRPr sz="2000">
              <a:latin typeface="ARial"/>
              <a:cs typeface="ARial"/>
            </a:endParaRPr>
          </a:p>
          <a:p>
            <a:pPr marL="217793" indent="-217793">
              <a:buFont typeface="Arial"/>
              <a:buChar char="•"/>
              <a:defRPr/>
            </a:pPr>
            <a:r>
              <a:rPr sz="2000" b="0" i="0" u="none">
                <a:solidFill>
                  <a:srgbClr val="000000"/>
                </a:solidFill>
                <a:latin typeface="ARial"/>
                <a:ea typeface="Times New Roman"/>
                <a:cs typeface="ARial"/>
              </a:rPr>
              <a:t>Build an </a:t>
            </a:r>
            <a:r>
              <a:rPr sz="2000" b="1" i="0" u="none">
                <a:solidFill>
                  <a:srgbClr val="000000"/>
                </a:solidFill>
                <a:latin typeface="ARial"/>
                <a:ea typeface="Times New Roman"/>
                <a:cs typeface="ARial"/>
              </a:rPr>
              <a:t>agentic AI application</a:t>
            </a:r>
            <a:r>
              <a:rPr sz="2000" b="0" i="0" u="none">
                <a:solidFill>
                  <a:srgbClr val="000000"/>
                </a:solidFill>
                <a:latin typeface="ARial"/>
                <a:ea typeface="Times New Roman"/>
                <a:cs typeface="ARial"/>
              </a:rPr>
              <a:t> that acts as an intelligent writing assistant. The solution should:</a:t>
            </a:r>
            <a:endParaRPr sz="2000">
              <a:latin typeface="ARial"/>
              <a:cs typeface="ARial"/>
            </a:endParaRPr>
          </a:p>
          <a:p>
            <a:pPr marL="217793" indent="-217793">
              <a:buFont typeface="Arial"/>
              <a:buChar char="•"/>
              <a:defRPr/>
            </a:pPr>
            <a:r>
              <a:rPr sz="2000" b="1" i="0" u="none">
                <a:solidFill>
                  <a:srgbClr val="000000"/>
                </a:solidFill>
                <a:latin typeface="ARial"/>
                <a:ea typeface="Times New Roman"/>
                <a:cs typeface="ARial"/>
              </a:rPr>
              <a:t>Fuse Disparate Sources:</a:t>
            </a:r>
            <a:r>
              <a:rPr sz="2000" b="0" i="0" u="none">
                <a:solidFill>
                  <a:srgbClr val="000000"/>
                </a:solidFill>
                <a:latin typeface="ARial"/>
                <a:ea typeface="Times New Roman"/>
                <a:cs typeface="ARial"/>
              </a:rPr>
              <a:t> Collect real-time data from multiple channels (news sites, research papers, social media, comments) and synthesize into clear summaries with actionable blog topic suggestions.</a:t>
            </a:r>
            <a:endParaRPr sz="2000">
              <a:latin typeface="ARial"/>
              <a:cs typeface="ARial"/>
            </a:endParaRPr>
          </a:p>
          <a:p>
            <a:pPr marL="217793" indent="-217793">
              <a:buFont typeface="Arial"/>
              <a:buChar char="•"/>
              <a:defRPr/>
            </a:pPr>
            <a:r>
              <a:rPr sz="2000" b="1" i="0" u="none">
                <a:solidFill>
                  <a:srgbClr val="000000"/>
                </a:solidFill>
                <a:latin typeface="ARial"/>
                <a:ea typeface="Times New Roman"/>
                <a:cs typeface="ARial"/>
              </a:rPr>
              <a:t>Enable Multimodal Content Curation:</a:t>
            </a:r>
            <a:r>
              <a:rPr sz="2000" b="0" i="0" u="none">
                <a:solidFill>
                  <a:srgbClr val="000000"/>
                </a:solidFill>
                <a:latin typeface="ARial"/>
                <a:ea typeface="Times New Roman"/>
                <a:cs typeface="ARial"/>
              </a:rPr>
              <a:t> Accept user inputs (text, images, or voice notes), refine ideas, and recommend blog structure, tone, or supporting visuals.</a:t>
            </a:r>
            <a:endParaRPr sz="2000">
              <a:latin typeface="ARial"/>
              <a:cs typeface="ARial"/>
            </a:endParaRPr>
          </a:p>
          <a:p>
            <a:pPr marL="217793" indent="-217793">
              <a:buFont typeface="Arial"/>
              <a:buChar char="•"/>
              <a:defRPr/>
            </a:pPr>
            <a:r>
              <a:rPr sz="2000" b="1" i="0" u="none">
                <a:solidFill>
                  <a:srgbClr val="000000"/>
                </a:solidFill>
                <a:latin typeface="ARial"/>
                <a:ea typeface="Times New Roman"/>
                <a:cs typeface="ARial"/>
              </a:rPr>
              <a:t>Create a Predictive &amp; Agentic Layer:</a:t>
            </a:r>
            <a:r>
              <a:rPr sz="2000" b="0" i="0" u="none">
                <a:solidFill>
                  <a:srgbClr val="000000"/>
                </a:solidFill>
                <a:latin typeface="ARial"/>
                <a:ea typeface="Times New Roman"/>
                <a:cs typeface="ARial"/>
              </a:rPr>
              <a:t> Analyze engagement patterns to predict trending topics and suggest optimal publishing time, hashtags, or angles for maximum reach.</a:t>
            </a:r>
            <a:endParaRPr sz="2000">
              <a:latin typeface="ARial"/>
              <a:cs typeface="ARial"/>
            </a:endParaRPr>
          </a:p>
          <a:p>
            <a:pPr marL="217793" indent="-217793" algn="just">
              <a:buFont typeface="Arial"/>
              <a:buChar char="•"/>
              <a:defRPr/>
            </a:pPr>
            <a:r>
              <a:rPr sz="2000" b="1" i="0" u="none">
                <a:solidFill>
                  <a:srgbClr val="000000"/>
                </a:solidFill>
                <a:latin typeface="ARial"/>
                <a:ea typeface="Times New Roman"/>
                <a:cs typeface="ARial"/>
              </a:rPr>
              <a:t>Visualize the Writing Pulse:</a:t>
            </a:r>
            <a:r>
              <a:rPr sz="2000" b="0" i="0" u="none">
                <a:solidFill>
                  <a:srgbClr val="000000"/>
                </a:solidFill>
                <a:latin typeface="ARial"/>
                <a:ea typeface="Times New Roman"/>
                <a:cs typeface="ARial"/>
              </a:rPr>
              <a:t> Provide a clean, real-time dashboard showing curated topics, sentiment analysis, and engagement forecasts to help writers align with audience interests.</a:t>
            </a:r>
            <a:endParaRPr sz="2000" b="0" i="0" u="none">
              <a:solidFill>
                <a:srgbClr val="000000"/>
              </a:solidFill>
              <a:latin typeface="Times New Roman"/>
              <a:ea typeface="Times New Roman"/>
              <a:cs typeface="Times New Roman"/>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89581338" name="Title 1"/>
          <p:cNvSpPr>
            <a:spLocks noGrp="1"/>
          </p:cNvSpPr>
          <p:nvPr>
            <p:ph type="title"/>
          </p:nvPr>
        </p:nvSpPr>
        <p:spPr bwMode="auto">
          <a:xfrm flipH="0" flipV="0">
            <a:off x="838200" y="292910"/>
            <a:ext cx="10515600" cy="5563951"/>
          </a:xfrm>
        </p:spPr>
        <p:txBody>
          <a:bodyPr vertOverflow="overflow" horzOverflow="overflow" vert="horz" wrap="square" lIns="91440" tIns="45720" rIns="91440" bIns="45720" numCol="1" spcCol="0" rtlCol="0" fromWordArt="0" anchor="ctr" anchorCtr="0" forceAA="0" upright="0" compatLnSpc="0">
            <a:normAutofit/>
          </a:bodyPr>
          <a:lstStyle/>
          <a:p>
            <a:pPr>
              <a:defRPr/>
            </a:pPr>
            <a:r>
              <a:rPr sz="2000" b="1" i="0" u="none">
                <a:solidFill>
                  <a:srgbClr val="000000"/>
                </a:solidFill>
                <a:latin typeface="ARial"/>
                <a:ea typeface="Times New Roman"/>
                <a:cs typeface="ARial"/>
              </a:rPr>
              <a:t>Proposed Solution</a:t>
            </a:r>
            <a:br>
              <a:rPr sz="2000">
                <a:latin typeface="ARial"/>
                <a:cs typeface="ARial"/>
              </a:rPr>
            </a:br>
            <a:br>
              <a:rPr sz="2000">
                <a:latin typeface="ARial"/>
                <a:cs typeface="ARial"/>
              </a:rPr>
            </a:br>
            <a:br>
              <a:rPr sz="2000">
                <a:latin typeface="ARial"/>
                <a:cs typeface="ARial"/>
              </a:rPr>
            </a:br>
            <a:endParaRPr sz="2000">
              <a:latin typeface="ARial"/>
              <a:cs typeface="ARial"/>
            </a:endParaRPr>
          </a:p>
          <a:p>
            <a:pPr>
              <a:defRPr/>
            </a:pPr>
            <a:r>
              <a:rPr lang="en-US" sz="2000" b="1" i="0" u="none" strike="noStrike" cap="none" spc="0">
                <a:solidFill>
                  <a:srgbClr val="000000"/>
                </a:solidFill>
                <a:latin typeface="ARial"/>
                <a:ea typeface="Times New Roman"/>
                <a:cs typeface="ARial"/>
              </a:rPr>
              <a:t>Proposed Solution</a:t>
            </a:r>
            <a:r>
              <a:rPr sz="2000" b="1" i="0" u="none">
                <a:solidFill>
                  <a:srgbClr val="000000"/>
                </a:solidFill>
                <a:latin typeface="ARial"/>
                <a:ea typeface="Times New Roman"/>
                <a:cs typeface="ARial"/>
              </a:rPr>
              <a:t> :SmartBlog AI Assistant</a:t>
            </a:r>
            <a:br>
              <a:rPr sz="2000">
                <a:latin typeface="ARial"/>
                <a:cs typeface="ARial"/>
              </a:rPr>
            </a:br>
            <a:endParaRPr sz="2000">
              <a:latin typeface="ARial"/>
              <a:cs typeface="ARial"/>
            </a:endParaRPr>
          </a:p>
          <a:p>
            <a:pPr>
              <a:defRPr/>
            </a:pPr>
            <a:r>
              <a:rPr sz="2000" b="0" i="0" u="none">
                <a:solidFill>
                  <a:srgbClr val="000000"/>
                </a:solidFill>
                <a:latin typeface="ARial"/>
                <a:ea typeface="Times New Roman"/>
                <a:cs typeface="ARial"/>
              </a:rPr>
              <a:t>Our solution is an </a:t>
            </a:r>
            <a:r>
              <a:rPr sz="2000" b="1" i="0" u="none">
                <a:solidFill>
                  <a:srgbClr val="000000"/>
                </a:solidFill>
                <a:latin typeface="ARial"/>
                <a:ea typeface="Times New Roman"/>
                <a:cs typeface="ARial"/>
              </a:rPr>
              <a:t>Agentic AI assistant</a:t>
            </a:r>
            <a:r>
              <a:rPr sz="2000" b="0" i="0" u="none">
                <a:solidFill>
                  <a:srgbClr val="000000"/>
                </a:solidFill>
                <a:latin typeface="ARial"/>
                <a:ea typeface="Times New Roman"/>
                <a:cs typeface="ARial"/>
              </a:rPr>
              <a:t> that automates research and blog planning.</a:t>
            </a:r>
            <a:endParaRPr sz="2000">
              <a:latin typeface="ARial"/>
              <a:cs typeface="ARial"/>
            </a:endParaRPr>
          </a:p>
          <a:p>
            <a:pPr>
              <a:defRPr/>
            </a:pPr>
            <a:br>
              <a:rPr sz="2000" b="1" i="0" u="none">
                <a:solidFill>
                  <a:srgbClr val="000000"/>
                </a:solidFill>
                <a:latin typeface="ARial"/>
                <a:ea typeface="Times New Roman"/>
                <a:cs typeface="ARial"/>
              </a:rPr>
            </a:br>
            <a:r>
              <a:rPr sz="2000" b="1" i="0" u="none">
                <a:solidFill>
                  <a:srgbClr val="000000"/>
                </a:solidFill>
                <a:latin typeface="ARial"/>
                <a:ea typeface="Times New Roman"/>
                <a:cs typeface="ARial"/>
              </a:rPr>
              <a:t>Features</a:t>
            </a:r>
            <a:br>
              <a:rPr sz="2000">
                <a:latin typeface="ARial"/>
                <a:cs typeface="ARial"/>
              </a:rPr>
            </a:br>
            <a:endParaRPr sz="2000">
              <a:latin typeface="ARial"/>
              <a:cs typeface="ARial"/>
            </a:endParaRPr>
          </a:p>
          <a:p>
            <a:pPr marL="305908" indent="-305908">
              <a:buFont typeface="Arial"/>
              <a:buChar char="•"/>
              <a:defRPr/>
            </a:pPr>
            <a:r>
              <a:rPr sz="2000" b="0" i="0" u="none">
                <a:solidFill>
                  <a:srgbClr val="000000"/>
                </a:solidFill>
                <a:latin typeface="ARial"/>
                <a:ea typeface="Times New Roman"/>
                <a:cs typeface="ARial"/>
              </a:rPr>
              <a:t>Collects data from multiple online sources.</a:t>
            </a:r>
            <a:endParaRPr sz="2000">
              <a:latin typeface="ARial"/>
              <a:cs typeface="ARial"/>
            </a:endParaRPr>
          </a:p>
          <a:p>
            <a:pPr marL="305908" indent="-305908">
              <a:buFont typeface="Arial"/>
              <a:buChar char="•"/>
              <a:defRPr/>
            </a:pPr>
            <a:r>
              <a:rPr sz="2000" b="0" i="0" u="none">
                <a:solidFill>
                  <a:srgbClr val="000000"/>
                </a:solidFill>
                <a:latin typeface="ARial"/>
                <a:ea typeface="Times New Roman"/>
                <a:cs typeface="ARial"/>
              </a:rPr>
              <a:t>Summarizes key insights using AI.</a:t>
            </a:r>
            <a:endParaRPr sz="2000">
              <a:latin typeface="ARial"/>
              <a:cs typeface="ARial"/>
            </a:endParaRPr>
          </a:p>
          <a:p>
            <a:pPr marL="305908" indent="-305908">
              <a:buFont typeface="Arial"/>
              <a:buChar char="•"/>
              <a:defRPr/>
            </a:pPr>
            <a:r>
              <a:rPr sz="2000" b="0" i="0" u="none">
                <a:solidFill>
                  <a:srgbClr val="000000"/>
                </a:solidFill>
                <a:latin typeface="ARial"/>
                <a:ea typeface="Times New Roman"/>
                <a:cs typeface="ARial"/>
              </a:rPr>
              <a:t>Suggests trending blog topics.</a:t>
            </a:r>
            <a:endParaRPr sz="2000">
              <a:latin typeface="ARial"/>
              <a:cs typeface="ARial"/>
            </a:endParaRPr>
          </a:p>
          <a:p>
            <a:pPr marL="305908" indent="-305908">
              <a:buFont typeface="Arial"/>
              <a:buChar char="•"/>
              <a:defRPr/>
            </a:pPr>
            <a:r>
              <a:rPr sz="2000" b="0" i="0" u="none">
                <a:solidFill>
                  <a:srgbClr val="000000"/>
                </a:solidFill>
                <a:latin typeface="ARial"/>
                <a:ea typeface="Times New Roman"/>
                <a:cs typeface="ARial"/>
              </a:rPr>
              <a:t>Recommends blog structure and tone.</a:t>
            </a:r>
            <a:endParaRPr sz="2000">
              <a:latin typeface="ARial"/>
              <a:cs typeface="ARial"/>
            </a:endParaRPr>
          </a:p>
          <a:p>
            <a:pPr marL="305908" indent="-305908">
              <a:buFont typeface="Arial"/>
              <a:buChar char="•"/>
              <a:defRPr/>
            </a:pPr>
            <a:r>
              <a:rPr sz="2000" b="0" i="0" u="none">
                <a:solidFill>
                  <a:srgbClr val="000000"/>
                </a:solidFill>
                <a:latin typeface="ARial"/>
                <a:ea typeface="Times New Roman"/>
                <a:cs typeface="ARial"/>
              </a:rPr>
              <a:t>Predicts engagement and publishing time.</a:t>
            </a:r>
            <a:endParaRPr sz="2000">
              <a:latin typeface="ARial"/>
              <a:cs typeface="ARial"/>
            </a:endParaRPr>
          </a:p>
          <a:p>
            <a:pPr marL="305908" indent="-305908">
              <a:buFont typeface="Arial"/>
              <a:buChar char="•"/>
              <a:defRPr/>
            </a:pPr>
            <a:r>
              <a:rPr sz="2000" b="0" i="0" u="none">
                <a:solidFill>
                  <a:srgbClr val="000000"/>
                </a:solidFill>
                <a:latin typeface="ARial"/>
                <a:ea typeface="Times New Roman"/>
                <a:cs typeface="ARial"/>
              </a:rPr>
              <a:t>Displays insights through an interactive dashboard.</a:t>
            </a:r>
            <a:endParaRPr sz="20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535286900" name=""/>
          <p:cNvSpPr txBox="1"/>
          <p:nvPr/>
        </p:nvSpPr>
        <p:spPr bwMode="auto">
          <a:xfrm flipH="0" flipV="0">
            <a:off x="963670" y="962632"/>
            <a:ext cx="9557092" cy="3414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a:p>
            <a:pPr>
              <a:defRPr/>
            </a:pPr>
            <a:r>
              <a:rPr sz="2000" b="1" i="0" u="none">
                <a:solidFill>
                  <a:srgbClr val="000000"/>
                </a:solidFill>
                <a:latin typeface="ARial"/>
                <a:ea typeface="Times New Roman"/>
                <a:cs typeface="ARial"/>
              </a:rPr>
              <a:t>Technology Used</a:t>
            </a:r>
            <a:endParaRPr sz="2000">
              <a:latin typeface="ARial"/>
              <a:cs typeface="ARial"/>
            </a:endParaRPr>
          </a:p>
          <a:p>
            <a:pPr>
              <a:defRPr/>
            </a:pPr>
            <a:endParaRPr sz="2000">
              <a:latin typeface="ARial"/>
              <a:cs typeface="ARial"/>
            </a:endParaRPr>
          </a:p>
          <a:p>
            <a:pPr>
              <a:defRPr/>
            </a:pPr>
            <a:endParaRPr sz="2000">
              <a:latin typeface="ARial"/>
              <a:cs typeface="ARial"/>
            </a:endParaRPr>
          </a:p>
          <a:p>
            <a:pPr marL="305908" indent="-305908" algn="just">
              <a:buFont typeface="Arial"/>
              <a:buChar char="•"/>
              <a:defRPr/>
            </a:pPr>
            <a:r>
              <a:rPr sz="2000" b="1" i="0" u="none">
                <a:solidFill>
                  <a:srgbClr val="000000"/>
                </a:solidFill>
                <a:latin typeface="ARial"/>
                <a:ea typeface="Times New Roman"/>
                <a:cs typeface="ARial"/>
              </a:rPr>
              <a:t>IBM BOB (Build on IBM) Platform </a:t>
            </a:r>
            <a:r>
              <a:rPr sz="2000" b="1" i="0" u="none">
                <a:solidFill>
                  <a:srgbClr val="000000"/>
                </a:solidFill>
                <a:latin typeface="ARial"/>
                <a:ea typeface="Times New Roman"/>
                <a:cs typeface="ARial"/>
              </a:rPr>
              <a:t>:</a:t>
            </a:r>
            <a:r>
              <a:rPr sz="2000" b="0" i="0" u="none">
                <a:solidFill>
                  <a:srgbClr val="000000"/>
                </a:solidFill>
                <a:latin typeface="ARial"/>
                <a:ea typeface="Times New Roman"/>
                <a:cs typeface="ARial"/>
              </a:rPr>
              <a:t> Provides an integrated environment to develop, deploy, and manage AI applications.</a:t>
            </a:r>
            <a:endParaRPr sz="2000">
              <a:latin typeface="ARial"/>
              <a:cs typeface="ARial"/>
            </a:endParaRPr>
          </a:p>
          <a:p>
            <a:pPr marL="305908" indent="-305908" algn="just">
              <a:buFont typeface="Arial"/>
              <a:buChar char="•"/>
              <a:defRPr/>
            </a:pPr>
            <a:endParaRPr sz="2000">
              <a:latin typeface="ARial"/>
              <a:cs typeface="ARial"/>
            </a:endParaRPr>
          </a:p>
          <a:p>
            <a:pPr marL="305908" indent="-305908" algn="just">
              <a:buFont typeface="Arial"/>
              <a:buChar char="•"/>
              <a:defRPr/>
            </a:pPr>
            <a:r>
              <a:rPr sz="2000" b="1" i="0" u="none">
                <a:solidFill>
                  <a:srgbClr val="000000"/>
                </a:solidFill>
                <a:latin typeface="ARial"/>
                <a:ea typeface="Times New Roman"/>
                <a:cs typeface="ARial"/>
              </a:rPr>
              <a:t>IBM Granite Large Language Models (LLMs) :</a:t>
            </a:r>
            <a:r>
              <a:rPr sz="2000" b="0" i="0" u="none">
                <a:solidFill>
                  <a:srgbClr val="000000"/>
                </a:solidFill>
                <a:latin typeface="ARial"/>
                <a:ea typeface="Times New Roman"/>
                <a:cs typeface="ARial"/>
              </a:rPr>
              <a:t> Power the intelligence behind the AI writing assistant.</a:t>
            </a:r>
            <a:endParaRPr sz="2000">
              <a:latin typeface="ARial"/>
              <a:cs typeface="ARial"/>
            </a:endParaRPr>
          </a:p>
          <a:p>
            <a:pPr marL="305908" indent="-305908" algn="just">
              <a:buFont typeface="Arial"/>
              <a:buChar char="•"/>
              <a:defRPr/>
            </a:pPr>
            <a:endParaRPr sz="2000">
              <a:latin typeface="ARial"/>
              <a:cs typeface="ARial"/>
            </a:endParaRPr>
          </a:p>
          <a:p>
            <a:pPr marL="305908" indent="-305908" algn="just">
              <a:buFont typeface="Arial"/>
              <a:buChar char="•"/>
              <a:defRPr/>
            </a:pPr>
            <a:r>
              <a:rPr sz="2000" b="1" i="0" u="none">
                <a:solidFill>
                  <a:srgbClr val="000000"/>
                </a:solidFill>
                <a:latin typeface="ARial"/>
                <a:ea typeface="Times New Roman"/>
                <a:cs typeface="ARial"/>
              </a:rPr>
              <a:t>IBM Cloud Platform </a:t>
            </a:r>
            <a:r>
              <a:rPr sz="2000" b="1" i="0" u="none">
                <a:solidFill>
                  <a:srgbClr val="000000"/>
                </a:solidFill>
                <a:latin typeface="ARial"/>
                <a:ea typeface="Times New Roman"/>
                <a:cs typeface="ARial"/>
              </a:rPr>
              <a:t>:</a:t>
            </a:r>
            <a:r>
              <a:rPr sz="2000" b="0" i="0" u="none">
                <a:solidFill>
                  <a:srgbClr val="000000"/>
                </a:solidFill>
                <a:latin typeface="ARial"/>
                <a:ea typeface="Times New Roman"/>
                <a:cs typeface="ARial"/>
              </a:rPr>
              <a:t> Hosts and runs the complete AI application.</a:t>
            </a:r>
            <a:endParaRPr sz="2000">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38566072" name="Title 1"/>
          <p:cNvSpPr>
            <a:spLocks noGrp="1"/>
          </p:cNvSpPr>
          <p:nvPr>
            <p:ph type="title"/>
          </p:nvPr>
        </p:nvSpPr>
        <p:spPr bwMode="auto"/>
        <p:txBody>
          <a:bodyPr/>
          <a:lstStyle/>
          <a:p>
            <a:pPr>
              <a:defRPr/>
            </a:pPr>
            <a:r>
              <a:rPr sz="2800" b="1"/>
              <a:t>Required Files created using IBM Bob</a:t>
            </a:r>
            <a:endParaRPr sz="2800" b="1"/>
          </a:p>
        </p:txBody>
      </p:sp>
      <p:pic>
        <p:nvPicPr>
          <p:cNvPr id="1458907461" name=""/>
          <p:cNvPicPr>
            <a:picLocks noChangeAspect="1"/>
          </p:cNvPicPr>
          <p:nvPr/>
        </p:nvPicPr>
        <p:blipFill>
          <a:blip r:embed="rId2"/>
          <a:stretch/>
        </p:blipFill>
        <p:spPr bwMode="auto">
          <a:xfrm flipH="0" flipV="0">
            <a:off x="838200" y="1327420"/>
            <a:ext cx="9508608" cy="495502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2101530062" name=""/>
          <p:cNvPicPr>
            <a:picLocks noChangeAspect="1"/>
          </p:cNvPicPr>
          <p:nvPr/>
        </p:nvPicPr>
        <p:blipFill>
          <a:blip r:embed="rId2"/>
          <a:stretch/>
        </p:blipFill>
        <p:spPr bwMode="auto">
          <a:xfrm flipH="0" flipV="0">
            <a:off x="821808" y="212326"/>
            <a:ext cx="9687127" cy="58167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179870736" name=""/>
          <p:cNvPicPr>
            <a:picLocks noChangeAspect="1"/>
          </p:cNvPicPr>
          <p:nvPr/>
        </p:nvPicPr>
        <p:blipFill>
          <a:blip r:embed="rId2"/>
          <a:stretch/>
        </p:blipFill>
        <p:spPr bwMode="auto">
          <a:xfrm flipH="0" flipV="0">
            <a:off x="1147356" y="790372"/>
            <a:ext cx="9513574" cy="5047439"/>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37124657" name="Title 1"/>
          <p:cNvSpPr>
            <a:spLocks noGrp="1"/>
          </p:cNvSpPr>
          <p:nvPr>
            <p:ph type="title"/>
          </p:nvPr>
        </p:nvSpPr>
        <p:spPr bwMode="auto"/>
        <p:txBody>
          <a:bodyPr/>
          <a:lstStyle/>
          <a:p>
            <a:pPr>
              <a:defRPr/>
            </a:pPr>
            <a:r>
              <a:rPr sz="2800" b="1"/>
              <a:t>Role of </a:t>
            </a:r>
            <a:r>
              <a:rPr sz="2800" b="1" u="none"/>
              <a:t>Agentic </a:t>
            </a:r>
            <a:r>
              <a:rPr sz="2800" b="1"/>
              <a:t> AI in the Solution</a:t>
            </a:r>
            <a:endParaRPr sz="2800" b="1"/>
          </a:p>
        </p:txBody>
      </p:sp>
      <p:sp>
        <p:nvSpPr>
          <p:cNvPr id="1065094311" name=""/>
          <p:cNvSpPr txBox="1"/>
          <p:nvPr/>
        </p:nvSpPr>
        <p:spPr bwMode="auto">
          <a:xfrm flipH="0" flipV="0">
            <a:off x="953537" y="1631409"/>
            <a:ext cx="10216562" cy="21949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a:p>
            <a:pPr algn="just">
              <a:defRPr/>
            </a:pPr>
            <a:r>
              <a:rPr sz="2000" b="0" i="0" u="none">
                <a:solidFill>
                  <a:srgbClr val="000000"/>
                </a:solidFill>
                <a:latin typeface="ARial"/>
                <a:ea typeface="Times New Roman"/>
                <a:cs typeface="ARial"/>
              </a:rPr>
              <a:t>Agentic AI acts as an intelligent writing assistant that autonomously collects information from multiple sources, summarizes key insights, identifies trending topics, and recommends personalized blog ideas. It also suggests content structure, tone, hashtags, and the best publishing time based on audience engagement, reducing information overload and enabling bloggers to create high-quality content more efficiently.</a:t>
            </a:r>
            <a:endParaRPr sz="2000">
              <a:latin typeface="ARial"/>
              <a:cs typeface="ARial"/>
            </a:endParaRPr>
          </a:p>
          <a:p>
            <a:pPr algn="just">
              <a:defRPr/>
            </a:pPr>
            <a:endParaRPr sz="2000"/>
          </a:p>
        </p:txBody>
      </p:sp>
      <p:pic>
        <p:nvPicPr>
          <p:cNvPr id="509137460" name=""/>
          <p:cNvPicPr>
            <a:picLocks noChangeAspect="1"/>
          </p:cNvPicPr>
          <p:nvPr/>
        </p:nvPicPr>
        <p:blipFill>
          <a:blip r:embed="rId2"/>
          <a:stretch/>
        </p:blipFill>
        <p:spPr bwMode="auto">
          <a:xfrm flipH="0" flipV="0">
            <a:off x="3020664" y="3567112"/>
            <a:ext cx="5623803" cy="253587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260344792" name=""/>
          <p:cNvPicPr>
            <a:picLocks noChangeAspect="1"/>
          </p:cNvPicPr>
          <p:nvPr/>
        </p:nvPicPr>
        <p:blipFill>
          <a:blip r:embed="rId2"/>
          <a:stretch/>
        </p:blipFill>
        <p:spPr bwMode="auto">
          <a:xfrm flipH="0" flipV="0">
            <a:off x="759705" y="243191"/>
            <a:ext cx="10944922" cy="620138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329092182" name="Title 1"/>
          <p:cNvSpPr>
            <a:spLocks noGrp="1"/>
          </p:cNvSpPr>
          <p:nvPr>
            <p:ph type="title"/>
          </p:nvPr>
        </p:nvSpPr>
        <p:spPr bwMode="auto">
          <a:xfrm flipH="0" flipV="0">
            <a:off x="578617" y="365125"/>
            <a:ext cx="10775182" cy="1012960"/>
          </a:xfrm>
        </p:spPr>
        <p:txBody>
          <a:bodyPr/>
          <a:lstStyle/>
          <a:p>
            <a:pPr>
              <a:defRPr/>
            </a:pPr>
            <a:r>
              <a:rPr sz="2800" b="1"/>
              <a:t>Project Output</a:t>
            </a:r>
            <a:r>
              <a:rPr b="1"/>
              <a:t> </a:t>
            </a:r>
            <a:r>
              <a:rPr sz="2800" b="1"/>
              <a:t>Screenshort</a:t>
            </a:r>
            <a:endParaRPr/>
          </a:p>
        </p:txBody>
      </p:sp>
      <p:pic>
        <p:nvPicPr>
          <p:cNvPr id="1037576668" name=""/>
          <p:cNvPicPr>
            <a:picLocks noChangeAspect="1"/>
          </p:cNvPicPr>
          <p:nvPr/>
        </p:nvPicPr>
        <p:blipFill>
          <a:blip r:embed="rId2"/>
          <a:stretch/>
        </p:blipFill>
        <p:spPr bwMode="auto">
          <a:xfrm flipH="0" flipV="0">
            <a:off x="578617" y="1540212"/>
            <a:ext cx="10872686" cy="490436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807561809" name="Title 1"/>
          <p:cNvSpPr>
            <a:spLocks noGrp="1"/>
          </p:cNvSpPr>
          <p:nvPr>
            <p:ph type="title"/>
          </p:nvPr>
        </p:nvSpPr>
        <p:spPr bwMode="auto">
          <a:xfrm flipH="0" flipV="0">
            <a:off x="838199" y="365125"/>
            <a:ext cx="10515600" cy="3546204"/>
          </a:xfrm>
        </p:spPr>
        <p:txBody>
          <a:bodyPr vertOverflow="overflow" horzOverflow="overflow" vert="horz" wrap="square" lIns="91440" tIns="45720" rIns="91440" bIns="45720" numCol="1" spcCol="0" rtlCol="0" fromWordArt="0" anchor="ctr" anchorCtr="0" forceAA="0" upright="0" compatLnSpc="0">
            <a:normAutofit/>
          </a:bodyPr>
          <a:lstStyle/>
          <a:p>
            <a:pPr>
              <a:defRPr/>
            </a:pPr>
            <a:endParaRPr/>
          </a:p>
          <a:p>
            <a:pPr>
              <a:defRPr/>
            </a:pPr>
            <a:r>
              <a:rPr sz="2800" b="1" i="0" u="none">
                <a:solidFill>
                  <a:srgbClr val="000000"/>
                </a:solidFill>
                <a:latin typeface="ARial"/>
                <a:ea typeface="Times New Roman"/>
                <a:cs typeface="ARial"/>
              </a:rPr>
              <a:t>Git Hub Link</a:t>
            </a:r>
            <a:br>
              <a:rPr sz="2800" b="1">
                <a:latin typeface="ARial"/>
                <a:cs typeface="ARial"/>
              </a:rPr>
            </a:br>
            <a:br>
              <a:rPr sz="2800" b="1">
                <a:latin typeface="ARial"/>
                <a:cs typeface="ARial"/>
              </a:rPr>
            </a:br>
            <a:r>
              <a:rPr lang="en-US" sz="2800" b="1" i="0" u="none" strike="noStrike" cap="none" spc="0">
                <a:solidFill>
                  <a:schemeClr val="tx1"/>
                </a:solidFill>
                <a:latin typeface="ARial"/>
                <a:cs typeface="ARial"/>
              </a:rPr>
              <a:t>https://github.com/dakshayinid2-prog/Managing-Content-Overload-for-Blog-Writers</a:t>
            </a:r>
            <a:endParaRPr sz="2800" b="1">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25603856" name="Title 1"/>
          <p:cNvSpPr>
            <a:spLocks noGrp="1"/>
          </p:cNvSpPr>
          <p:nvPr>
            <p:ph type="title"/>
          </p:nvPr>
        </p:nvSpPr>
        <p:spPr bwMode="auto">
          <a:xfrm flipH="0" flipV="0">
            <a:off x="838199" y="365125"/>
            <a:ext cx="10515600" cy="4944555"/>
          </a:xfrm>
        </p:spPr>
        <p:txBody>
          <a:bodyPr vertOverflow="overflow" horzOverflow="overflow" vert="horz" wrap="square" lIns="91440" tIns="45720" rIns="91440" bIns="45720" numCol="1" spcCol="0" rtlCol="0" fromWordArt="0" anchor="ctr" anchorCtr="0" forceAA="0" upright="0" compatLnSpc="0">
            <a:normAutofit/>
          </a:bodyPr>
          <a:lstStyle/>
          <a:p>
            <a:pPr>
              <a:defRPr/>
            </a:pPr>
            <a:endParaRPr/>
          </a:p>
          <a:p>
            <a:pPr>
              <a:defRPr/>
            </a:pPr>
            <a:r>
              <a:rPr sz="2800" b="1" i="0" u="none">
                <a:solidFill>
                  <a:srgbClr val="000000"/>
                </a:solidFill>
                <a:latin typeface="ARial"/>
                <a:ea typeface="Times New Roman"/>
                <a:cs typeface="ARial"/>
              </a:rPr>
              <a:t>Fu</a:t>
            </a:r>
            <a:r>
              <a:rPr sz="2800" b="1" i="0" u="none">
                <a:solidFill>
                  <a:srgbClr val="000000"/>
                </a:solidFill>
                <a:latin typeface="ARial"/>
                <a:ea typeface="Times New Roman"/>
                <a:cs typeface="ARial"/>
              </a:rPr>
              <a:t>ture Scope </a:t>
            </a:r>
            <a:br>
              <a:rPr sz="2800" b="1">
                <a:latin typeface="ARial"/>
                <a:cs typeface="ARial"/>
              </a:rPr>
            </a:br>
            <a:endParaRPr/>
          </a:p>
          <a:p>
            <a:pPr>
              <a:defRPr/>
            </a:pPr>
            <a:endParaRPr sz="2000"/>
          </a:p>
          <a:p>
            <a:pPr marL="283879" indent="-283879">
              <a:buFont typeface="Arial"/>
              <a:buChar char="•"/>
              <a:defRPr/>
            </a:pPr>
            <a:r>
              <a:rPr sz="2000" b="0" i="0" u="none">
                <a:solidFill>
                  <a:srgbClr val="000000"/>
                </a:solidFill>
                <a:latin typeface="Times New Roman"/>
                <a:ea typeface="Times New Roman"/>
                <a:cs typeface="Times New Roman"/>
              </a:rPr>
              <a:t>One-click blog generation </a:t>
            </a:r>
            <a:endParaRPr sz="2000"/>
          </a:p>
          <a:p>
            <a:pPr marL="283879" indent="-283879">
              <a:buFont typeface="Arial"/>
              <a:buChar char="•"/>
              <a:defRPr/>
            </a:pPr>
            <a:r>
              <a:rPr sz="2000" b="0" i="0" u="none">
                <a:solidFill>
                  <a:srgbClr val="000000"/>
                </a:solidFill>
                <a:latin typeface="Times New Roman"/>
                <a:ea typeface="Times New Roman"/>
                <a:cs typeface="Times New Roman"/>
              </a:rPr>
              <a:t>SEO optimization suggestions      </a:t>
            </a:r>
            <a:endParaRPr sz="2000"/>
          </a:p>
          <a:p>
            <a:pPr marL="283879" indent="-283879">
              <a:buFont typeface="Arial"/>
              <a:buChar char="•"/>
              <a:defRPr/>
            </a:pPr>
            <a:r>
              <a:rPr sz="2000" b="0" i="0" u="none">
                <a:solidFill>
                  <a:srgbClr val="000000"/>
                </a:solidFill>
                <a:latin typeface="Times New Roman"/>
                <a:ea typeface="Times New Roman"/>
                <a:cs typeface="Times New Roman"/>
              </a:rPr>
              <a:t>AI-generated images </a:t>
            </a:r>
            <a:endParaRPr sz="2000"/>
          </a:p>
          <a:p>
            <a:pPr marL="283879" indent="-283879">
              <a:buFont typeface="Arial"/>
              <a:buChar char="•"/>
              <a:defRPr/>
            </a:pPr>
            <a:r>
              <a:rPr sz="2000" b="0" i="0" u="none">
                <a:solidFill>
                  <a:srgbClr val="000000"/>
                </a:solidFill>
                <a:latin typeface="Times New Roman"/>
                <a:ea typeface="Times New Roman"/>
                <a:cs typeface="Times New Roman"/>
              </a:rPr>
              <a:t>Multi-language blogging </a:t>
            </a:r>
            <a:endParaRPr sz="2000"/>
          </a:p>
          <a:p>
            <a:pPr marL="283879" indent="-283879">
              <a:buFont typeface="Arial"/>
              <a:buChar char="•"/>
              <a:defRPr/>
            </a:pPr>
            <a:r>
              <a:rPr sz="2000" b="0" i="0" u="none">
                <a:solidFill>
                  <a:srgbClr val="000000"/>
                </a:solidFill>
                <a:latin typeface="Times New Roman"/>
                <a:ea typeface="Times New Roman"/>
                <a:cs typeface="Times New Roman"/>
              </a:rPr>
              <a:t>WordPress &amp; Medium publishing integration </a:t>
            </a:r>
            <a:endParaRPr sz="2000"/>
          </a:p>
          <a:p>
            <a:pPr marL="283879" indent="-283879">
              <a:buFont typeface="Arial"/>
              <a:buChar char="•"/>
              <a:defRPr/>
            </a:pPr>
            <a:r>
              <a:rPr sz="2000" b="0" i="0" u="none">
                <a:solidFill>
                  <a:srgbClr val="000000"/>
                </a:solidFill>
                <a:latin typeface="Times New Roman"/>
                <a:ea typeface="Times New Roman"/>
                <a:cs typeface="Times New Roman"/>
              </a:rPr>
              <a:t>Team collaboration workspace      </a:t>
            </a:r>
            <a:endParaRPr sz="2000"/>
          </a:p>
          <a:p>
            <a:pPr marL="283879" indent="-283879">
              <a:buFont typeface="Arial"/>
              <a:buChar char="•"/>
              <a:defRPr/>
            </a:pPr>
            <a:r>
              <a:rPr sz="2000" b="0" i="0" u="none">
                <a:solidFill>
                  <a:srgbClr val="000000"/>
                </a:solidFill>
                <a:latin typeface="Times New Roman"/>
                <a:ea typeface="Times New Roman"/>
                <a:cs typeface="Times New Roman"/>
              </a:rPr>
              <a:t>Personalized writing style learning </a:t>
            </a:r>
            <a:endParaRPr sz="2000"/>
          </a:p>
          <a:p>
            <a:pPr marL="283879" indent="-283879">
              <a:buFont typeface="Arial"/>
              <a:buChar char="•"/>
              <a:defRPr/>
            </a:pPr>
            <a:r>
              <a:rPr sz="2000" b="0" i="0" u="none">
                <a:solidFill>
                  <a:srgbClr val="000000"/>
                </a:solidFill>
                <a:latin typeface="Times New Roman"/>
                <a:ea typeface="Times New Roman"/>
                <a:cs typeface="Times New Roman"/>
              </a:rPr>
              <a:t>AI fact-checking before  publishin</a:t>
            </a:r>
            <a:r>
              <a:rPr sz="2000" b="0" i="0" u="none">
                <a:solidFill>
                  <a:srgbClr val="000000"/>
                </a:solidFill>
                <a:latin typeface="Times New Roman"/>
                <a:ea typeface="Times New Roman"/>
                <a:cs typeface="Times New Roman"/>
              </a:rPr>
              <a:t>g </a:t>
            </a:r>
            <a:endParaRPr sz="2000" b="1">
              <a:latin typeface="ARial"/>
              <a:cs typeface="ARial"/>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1015390384" name=""/>
          <p:cNvPicPr>
            <a:picLocks noChangeAspect="1"/>
          </p:cNvPicPr>
          <p:nvPr/>
        </p:nvPicPr>
        <p:blipFill>
          <a:blip r:embed="rId2"/>
          <a:stretch/>
        </p:blipFill>
        <p:spPr bwMode="auto">
          <a:xfrm flipH="0" flipV="0">
            <a:off x="1023430" y="1145467"/>
            <a:ext cx="9931356" cy="5188085"/>
          </a:xfrm>
          <a:prstGeom prst="rect">
            <a:avLst/>
          </a:prstGeom>
        </p:spPr>
      </p:pic>
      <p:sp>
        <p:nvSpPr>
          <p:cNvPr id="1185801350" name=""/>
          <p:cNvSpPr/>
          <p:nvPr/>
        </p:nvSpPr>
        <p:spPr bwMode="auto">
          <a:xfrm flipH="0" flipV="0">
            <a:off x="1458436" y="413587"/>
            <a:ext cx="3488214" cy="7318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endParaRPr/>
          </a:p>
          <a:p>
            <a:pPr>
              <a:defRPr/>
            </a:pPr>
            <a:r>
              <a:rPr sz="2400" b="1" i="0" u="none">
                <a:solidFill>
                  <a:srgbClr val="000000"/>
                </a:solidFill>
                <a:latin typeface="Arial"/>
                <a:ea typeface="Arial"/>
                <a:cs typeface="Arial"/>
              </a:rPr>
              <a:t>Certificates Earned:</a:t>
            </a:r>
            <a:endParaRPr/>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pic>
        <p:nvPicPr>
          <p:cNvPr id="1901200455" name=""/>
          <p:cNvPicPr>
            <a:picLocks noChangeAspect="1"/>
          </p:cNvPicPr>
          <p:nvPr/>
        </p:nvPicPr>
        <p:blipFill>
          <a:blip r:embed="rId2"/>
          <a:stretch/>
        </p:blipFill>
        <p:spPr bwMode="auto">
          <a:xfrm flipH="0" flipV="0">
            <a:off x="658643" y="638377"/>
            <a:ext cx="10893989" cy="5825246"/>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21970890" name="Title 1"/>
          <p:cNvSpPr>
            <a:spLocks noGrp="1"/>
          </p:cNvSpPr>
          <p:nvPr>
            <p:ph type="title"/>
          </p:nvPr>
        </p:nvSpPr>
        <p:spPr bwMode="auto">
          <a:xfrm flipH="0" flipV="0">
            <a:off x="838199" y="881569"/>
            <a:ext cx="10515600" cy="4701702"/>
          </a:xfrm>
        </p:spPr>
        <p:txBody>
          <a:bodyPr/>
          <a:lstStyle/>
          <a:p>
            <a:pPr algn="ctr">
              <a:defRPr/>
            </a:pPr>
            <a:r>
              <a:rPr sz="2800" b="1"/>
              <a:t>Thank you </a:t>
            </a:r>
            <a:endParaRPr sz="2800" b="1"/>
          </a:p>
        </p:txBody>
      </p:sp>
    </p:spTree>
  </p:cSld>
  <p:clrMapOvr>
    <a:masterClrMapping/>
  </p:clrMapOvr>
  <mc:AlternateContent xmlns:mc="http://schemas.openxmlformats.org/markup-compatibility/2006">
    <mc:Choice xmlns:p14="http://schemas.microsoft.com/office/powerpoint/2010/main" Requires="p14">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onlyoffice/7.3.3.49</Application>
  <DocSecurity>0</DocSecurity>
  <PresentationFormat>Widescreen</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identifier/>
  <dc:language/>
  <cp:lastModifiedBy>Guset_173</cp:lastModifiedBy>
  <cp:revision>6</cp:revision>
  <dcterms:created xsi:type="dcterms:W3CDTF">2012-12-03T06:56:55Z</dcterms:created>
  <dcterms:modified xsi:type="dcterms:W3CDTF">2026-07-16T07:11:23Z</dcterms:modified>
  <cp:category/>
  <cp:contentStatus/>
  <cp:version/>
</cp:coreProperties>
</file>